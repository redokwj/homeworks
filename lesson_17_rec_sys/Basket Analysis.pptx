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8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44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sv-S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ea3bd56a58_0_0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ea3bd56a5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Low performance might be due to significant overhead in complexity with Apache Beam 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and the fact that DirectRunner is a single-host environment, not designed for production use.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ea3bd56a5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ea3bd56a58_0_15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ea3bd56a58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Low performance might be due to significant overhead in complexity with Apache Beam 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and the fact that DirectRunner is a single-host environment, not designed for production use.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ea3bd56a58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ea3bd56a58_0_23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ea3bd56a58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Low performance might be due to significant overhead in complexity with Apache Beam 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and the fact that DirectRunner is a single-host environment, not designed for production use.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ea3bd56a58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a3bd56a58_0_7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ea3bd56a58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Low performance might be due to significant overhead in complexity with Apache Beam 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and the fact that DirectRunner is a single-host environment, not designed for production use.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ea3bd56a58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ea3bd56a58_0_31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ea3bd56a58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Low performance might be due to significant overhead in complexity with Apache Beam 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and the fact that DirectRunner is a single-host environment, not designed for production use.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ea3bd56a58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d4816e6a0_0_0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ed4816e6a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ed4816e6a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ed4816e6a0_0_6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ed4816e6a0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Low performance might be due to significant overhead in complexity with Apache Beam 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and the fact that DirectRunner is a single-host environment, not designed for production use.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ed4816e6a0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To handle current 3.5 M it took about 6GB of memory. 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sv-SE" sz="1600">
                <a:solidFill>
                  <a:srgbClr val="3C3364"/>
                </a:solidFill>
                <a:latin typeface="Arial"/>
                <a:ea typeface="Arial"/>
                <a:cs typeface="Arial"/>
                <a:sym typeface="Arial"/>
              </a:rPr>
              <a:t>It assumes to run original apriori on 120GB+ cloud machine</a:t>
            </a:r>
            <a:endParaRPr sz="1600">
              <a:solidFill>
                <a:srgbClr val="3C33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686280" y="1143000"/>
            <a:ext cx="5485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19.png"/><Relationship Id="rId4" Type="http://schemas.openxmlformats.org/officeDocument/2006/relationships/image" Target="../media/image36.png"/><Relationship Id="rId5" Type="http://schemas.openxmlformats.org/officeDocument/2006/relationships/image" Target="../media/image1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 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0"/>
            <a:ext cx="7162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313200" y="168471"/>
            <a:ext cx="756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313199" y="1209812"/>
            <a:ext cx="75600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— Convenience &amp; fuel">
  <p:cSld name="Content — Convenience &amp; fuel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313200" y="168471"/>
            <a:ext cx="756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273200" y="1209812"/>
            <a:ext cx="36000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9920" y="1710299"/>
            <a:ext cx="3098800" cy="22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— Fashion and specialised trade">
  <p:cSld name="Content — Fashion and specialised tra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3200" y="168471"/>
            <a:ext cx="756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273200" y="1209812"/>
            <a:ext cx="36000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  <p:pic>
        <p:nvPicPr>
          <p:cNvPr id="30" name="Google Shape;3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9920" y="1710299"/>
            <a:ext cx="3098800" cy="22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— Grocery">
  <p:cSld name="Content — Grocer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3200" y="168471"/>
            <a:ext cx="756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4273200" y="1209812"/>
            <a:ext cx="36000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9920" y="1710299"/>
            <a:ext cx="3098800" cy="22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6 alt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>
            <a:off x="0" y="0"/>
            <a:ext cx="9144000" cy="173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"/>
          <p:cNvSpPr txBox="1"/>
          <p:nvPr>
            <p:ph type="title"/>
          </p:nvPr>
        </p:nvSpPr>
        <p:spPr>
          <a:xfrm>
            <a:off x="1332000" y="168471"/>
            <a:ext cx="648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— Pharmaceutical">
  <p:cSld name="Content — Pharmaceutical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313200" y="168471"/>
            <a:ext cx="756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4273200" y="1209812"/>
            <a:ext cx="36000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  <p:pic>
        <p:nvPicPr>
          <p:cNvPr id="41" name="Google Shape;4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9920" y="1710299"/>
            <a:ext cx="3098800" cy="22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nd beliefs">
  <p:cSld name="Brand belief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5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04" y="3585"/>
            <a:ext cx="3428999" cy="342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9397" y="1359138"/>
            <a:ext cx="3784601" cy="378460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51" name="Google Shape;5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313200" y="168471"/>
            <a:ext cx="756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3200" y="1209812"/>
            <a:ext cx="36000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2" type="body"/>
          </p:nvPr>
        </p:nvSpPr>
        <p:spPr>
          <a:xfrm>
            <a:off x="4273200" y="1209812"/>
            <a:ext cx="36000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— Fashion and specialised trade">
  <p:cSld name="Title — Fashion and specialised tra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2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60" name="Google Shape;6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548" y="0"/>
            <a:ext cx="49149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4548" y="3346886"/>
            <a:ext cx="4914900" cy="18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">
  <p:cSld name="Content 4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313200" y="169230"/>
            <a:ext cx="756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313200" y="1209812"/>
            <a:ext cx="36000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6" name="Google Shape;66;p13"/>
          <p:cNvSpPr txBox="1"/>
          <p:nvPr>
            <p:ph idx="2" type="body"/>
          </p:nvPr>
        </p:nvSpPr>
        <p:spPr>
          <a:xfrm>
            <a:off x="313201" y="1879135"/>
            <a:ext cx="3600000" cy="25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3" type="body"/>
          </p:nvPr>
        </p:nvSpPr>
        <p:spPr>
          <a:xfrm>
            <a:off x="4273200" y="1209812"/>
            <a:ext cx="36000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8" name="Google Shape;68;p13"/>
          <p:cNvSpPr txBox="1"/>
          <p:nvPr>
            <p:ph idx="4" type="body"/>
          </p:nvPr>
        </p:nvSpPr>
        <p:spPr>
          <a:xfrm>
            <a:off x="4273200" y="1880824"/>
            <a:ext cx="3600000" cy="25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7398672" y="4428596"/>
            <a:ext cx="1586100" cy="61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6">
  <p:cSld name="Section 6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18100" y="1117796"/>
            <a:ext cx="4025900" cy="40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241800" cy="4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/>
          <p:nvPr>
            <p:ph type="ctrTitle"/>
          </p:nvPr>
        </p:nvSpPr>
        <p:spPr>
          <a:xfrm>
            <a:off x="903600" y="1392607"/>
            <a:ext cx="7339200" cy="17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None/>
              <a:defRPr b="1" i="0" sz="3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1778266" y="3278597"/>
            <a:ext cx="55875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616" y="295601"/>
            <a:ext cx="1390650" cy="1052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 txBox="1"/>
          <p:nvPr>
            <p:ph type="ctrTitle"/>
          </p:nvPr>
        </p:nvSpPr>
        <p:spPr>
          <a:xfrm>
            <a:off x="903600" y="1124103"/>
            <a:ext cx="73392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None/>
              <a:defRPr b="1" i="0" sz="3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1778266" y="4123271"/>
            <a:ext cx="55875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50"/>
              <a:buFont typeface="Arial"/>
              <a:buNone/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nd promise">
  <p:cSld name="Brand promis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 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Title 3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2248" y="0"/>
            <a:ext cx="3619500" cy="18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248" y="3327982"/>
            <a:ext cx="3619500" cy="18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03" name="Google Shape;10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4">
  <p:cSld name="Title 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300" y="0"/>
            <a:ext cx="3060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— Convenience &amp; fuel">
  <p:cSld name="Title — Convenience &amp; fuel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2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14" name="Google Shape;11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548" y="0"/>
            <a:ext cx="49149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4548" y="3346886"/>
            <a:ext cx="4914900" cy="18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— Pharmaceutical">
  <p:cSld name="Title — Pharmaceutical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3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21" name="Google Shape;12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548" y="0"/>
            <a:ext cx="49149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4548" y="3346886"/>
            <a:ext cx="4914900" cy="18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— Grocery">
  <p:cSld name="Title — Grocer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4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28" name="Google Shape;12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548" y="0"/>
            <a:ext cx="49149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4548" y="3337937"/>
            <a:ext cx="4914900" cy="18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alt">
  <p:cSld name="Content 1 al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/>
          <p:nvPr/>
        </p:nvSpPr>
        <p:spPr>
          <a:xfrm>
            <a:off x="0" y="0"/>
            <a:ext cx="9144000" cy="173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 txBox="1"/>
          <p:nvPr>
            <p:ph type="title"/>
          </p:nvPr>
        </p:nvSpPr>
        <p:spPr>
          <a:xfrm>
            <a:off x="313200" y="168471"/>
            <a:ext cx="756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3199" y="1209812"/>
            <a:ext cx="75600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1332000" y="168471"/>
            <a:ext cx="648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1331999" y="1209812"/>
            <a:ext cx="64800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alt">
  <p:cSld name="Content 2 al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/>
          <p:nvPr/>
        </p:nvSpPr>
        <p:spPr>
          <a:xfrm>
            <a:off x="0" y="0"/>
            <a:ext cx="9144000" cy="173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/>
          <p:cNvSpPr txBox="1"/>
          <p:nvPr>
            <p:ph type="title"/>
          </p:nvPr>
        </p:nvSpPr>
        <p:spPr>
          <a:xfrm>
            <a:off x="1332000" y="168471"/>
            <a:ext cx="648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1331999" y="1209812"/>
            <a:ext cx="64800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 alt">
  <p:cSld name="Content 3 al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/>
          <p:nvPr/>
        </p:nvSpPr>
        <p:spPr>
          <a:xfrm>
            <a:off x="0" y="0"/>
            <a:ext cx="9144000" cy="173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8"/>
          <p:cNvSpPr txBox="1"/>
          <p:nvPr>
            <p:ph type="title"/>
          </p:nvPr>
        </p:nvSpPr>
        <p:spPr>
          <a:xfrm>
            <a:off x="313200" y="168471"/>
            <a:ext cx="756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3200" y="1209812"/>
            <a:ext cx="36000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2" type="body"/>
          </p:nvPr>
        </p:nvSpPr>
        <p:spPr>
          <a:xfrm>
            <a:off x="4273200" y="1209812"/>
            <a:ext cx="36000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 alt">
  <p:cSld name="Content 4 al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/>
          <p:nvPr/>
        </p:nvSpPr>
        <p:spPr>
          <a:xfrm>
            <a:off x="0" y="0"/>
            <a:ext cx="9144000" cy="173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9"/>
          <p:cNvSpPr txBox="1"/>
          <p:nvPr>
            <p:ph type="title"/>
          </p:nvPr>
        </p:nvSpPr>
        <p:spPr>
          <a:xfrm>
            <a:off x="313200" y="169230"/>
            <a:ext cx="756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3200" y="1209812"/>
            <a:ext cx="36000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1" name="Google Shape;151;p29"/>
          <p:cNvSpPr txBox="1"/>
          <p:nvPr>
            <p:ph idx="2" type="body"/>
          </p:nvPr>
        </p:nvSpPr>
        <p:spPr>
          <a:xfrm>
            <a:off x="313201" y="1879135"/>
            <a:ext cx="3600000" cy="25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3" type="body"/>
          </p:nvPr>
        </p:nvSpPr>
        <p:spPr>
          <a:xfrm>
            <a:off x="4273200" y="1209812"/>
            <a:ext cx="36000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3" name="Google Shape;153;p29"/>
          <p:cNvSpPr txBox="1"/>
          <p:nvPr>
            <p:ph idx="4" type="body"/>
          </p:nvPr>
        </p:nvSpPr>
        <p:spPr>
          <a:xfrm>
            <a:off x="4273200" y="1880824"/>
            <a:ext cx="3600000" cy="25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Font typeface="Arial"/>
              <a:buChar char="⬥"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⬩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5">
  <p:cSld name="Content 5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3200" y="168471"/>
            <a:ext cx="756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5 alt">
  <p:cSld name="Content 5 al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/>
          <p:nvPr/>
        </p:nvSpPr>
        <p:spPr>
          <a:xfrm>
            <a:off x="0" y="0"/>
            <a:ext cx="9144000" cy="173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 txBox="1"/>
          <p:nvPr>
            <p:ph type="title"/>
          </p:nvPr>
        </p:nvSpPr>
        <p:spPr>
          <a:xfrm>
            <a:off x="313200" y="168471"/>
            <a:ext cx="756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6">
  <p:cSld name="Content 6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type="title"/>
          </p:nvPr>
        </p:nvSpPr>
        <p:spPr>
          <a:xfrm>
            <a:off x="1332000" y="168471"/>
            <a:ext cx="648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/>
        </p:nvSpPr>
        <p:spPr>
          <a:xfrm>
            <a:off x="0" y="0"/>
            <a:ext cx="9144000" cy="173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Section 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442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4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4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68" name="Google Shape;16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3">
  <p:cSld name="Section 3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4117" y="0"/>
            <a:ext cx="533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5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74" name="Google Shape;17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5">
  <p:cSld name="Section 5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49" y="0"/>
            <a:ext cx="6807200" cy="471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6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6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80" name="Google Shape;18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5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29" Type="http://schemas.openxmlformats.org/officeDocument/2006/relationships/slideLayout" Target="../slideLayouts/slideLayout27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31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9.xml"/><Relationship Id="rId33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8.xml"/><Relationship Id="rId3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11.xml"/><Relationship Id="rId35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10.xml"/><Relationship Id="rId34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13.xml"/><Relationship Id="rId37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12.xml"/><Relationship Id="rId36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38" Type="http://schemas.openxmlformats.org/officeDocument/2006/relationships/theme" Target="../theme/theme1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1000" y="0"/>
            <a:ext cx="11430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313200" y="168471"/>
            <a:ext cx="756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313199" y="1210614"/>
            <a:ext cx="75600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⬥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⬩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⬩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Char char="⬩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Char char="⬩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Char char="⬩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Char char="⬩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Char char="⬩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Char char="⬩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43200" y="4248743"/>
            <a:ext cx="1966871" cy="10800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nsole.cloud.google.com/bigquery?sq=847793400978:52175e430acd41f48851beabbd859c9a&amp;project=vivid-access-236609" TargetMode="External"/><Relationship Id="rId4" Type="http://schemas.openxmlformats.org/officeDocument/2006/relationships/hyperlink" Target="https://github.com/ymoch/apyori" TargetMode="External"/><Relationship Id="rId5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ELlfjwe4P-1Ee6waYnblhsPmf8fMzAlEvKUJ1MeHH_4/edit?usp=sharing" TargetMode="External"/><Relationship Id="rId4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onsole.cloud.google.com/bigquery?sq=1070345700722:f70cb139bd2b4c88852489c7dd812ac9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type="ctrTitle"/>
          </p:nvPr>
        </p:nvSpPr>
        <p:spPr>
          <a:xfrm>
            <a:off x="902368" y="1643769"/>
            <a:ext cx="73392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sv-SE"/>
              <a:t>Basket Analysis with Apriori Algorithm</a:t>
            </a:r>
            <a:endParaRPr/>
          </a:p>
        </p:txBody>
      </p:sp>
      <p:sp>
        <p:nvSpPr>
          <p:cNvPr id="186" name="Google Shape;186;p37"/>
          <p:cNvSpPr txBox="1"/>
          <p:nvPr>
            <p:ph idx="1" type="subTitle"/>
          </p:nvPr>
        </p:nvSpPr>
        <p:spPr>
          <a:xfrm>
            <a:off x="1778266" y="2810373"/>
            <a:ext cx="55875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</a:pPr>
            <a:r>
              <a:rPr lang="sv-SE"/>
              <a:t>Discovery results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/>
          <p:nvPr>
            <p:ph type="title"/>
          </p:nvPr>
        </p:nvSpPr>
        <p:spPr>
          <a:xfrm>
            <a:off x="313200" y="168475"/>
            <a:ext cx="71157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sv-SE"/>
              <a:t>Prototyping: data </a:t>
            </a:r>
            <a:endParaRPr/>
          </a:p>
        </p:txBody>
      </p:sp>
      <p:sp>
        <p:nvSpPr>
          <p:cNvPr id="193" name="Google Shape;193;p38"/>
          <p:cNvSpPr txBox="1"/>
          <p:nvPr>
            <p:ph idx="1" type="body"/>
          </p:nvPr>
        </p:nvSpPr>
        <p:spPr>
          <a:xfrm>
            <a:off x="391675" y="1033375"/>
            <a:ext cx="30348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Data:  1M row dump from </a:t>
            </a:r>
            <a:r>
              <a:rPr lang="sv-SE" u="sng">
                <a:solidFill>
                  <a:schemeClr val="hlink"/>
                </a:solidFill>
                <a:hlinkClick r:id="rId3"/>
              </a:rPr>
              <a:t>BQ Query</a:t>
            </a:r>
            <a:r>
              <a:rPr lang="sv-SE"/>
              <a:t>, exported as CSV and grouped by the </a:t>
            </a:r>
            <a:r>
              <a:rPr i="1" lang="sv-SE"/>
              <a:t>ReceiptReferenceNumber</a:t>
            </a:r>
            <a:r>
              <a:rPr lang="sv-SE"/>
              <a:t> field into receipts (baskets) </a:t>
            </a:r>
            <a:br>
              <a:rPr lang="sv-SE"/>
            </a:b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After grouping: </a:t>
            </a:r>
            <a:r>
              <a:rPr b="1" lang="sv-SE"/>
              <a:t>175,183</a:t>
            </a:r>
            <a:r>
              <a:rPr lang="sv-SE"/>
              <a:t> transactions (baskets)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Library: python library</a:t>
            </a:r>
            <a:r>
              <a:rPr b="1" lang="sv-SE"/>
              <a:t> </a:t>
            </a:r>
            <a:r>
              <a:rPr b="1" lang="sv-SE" u="sng">
                <a:solidFill>
                  <a:schemeClr val="hlink"/>
                </a:solidFill>
                <a:hlinkClick r:id="rId4"/>
              </a:rPr>
              <a:t>apyori</a:t>
            </a:r>
            <a:r>
              <a:rPr b="1" lang="sv-SE"/>
              <a:t> </a:t>
            </a:r>
            <a:endParaRPr b="1"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194" name="Google Shape;194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5986" y="991225"/>
            <a:ext cx="4677791" cy="32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 txBox="1"/>
          <p:nvPr>
            <p:ph type="title"/>
          </p:nvPr>
        </p:nvSpPr>
        <p:spPr>
          <a:xfrm>
            <a:off x="313200" y="168475"/>
            <a:ext cx="71157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sv-SE"/>
              <a:t>Prototyping: results</a:t>
            </a:r>
            <a:endParaRPr/>
          </a:p>
        </p:txBody>
      </p:sp>
      <p:sp>
        <p:nvSpPr>
          <p:cNvPr id="201" name="Google Shape;201;p39"/>
          <p:cNvSpPr txBox="1"/>
          <p:nvPr>
            <p:ph idx="1" type="body"/>
          </p:nvPr>
        </p:nvSpPr>
        <p:spPr>
          <a:xfrm>
            <a:off x="391675" y="593125"/>
            <a:ext cx="75942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sv-SE"/>
              <a:t>Results look like this: 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sv-SE"/>
              <a:t>...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i="1" lang="sv-SE"/>
              <a:t>Frequently bought together: {'AGURK STYKK', 'ALL BRAN REGULAR 500G KEL'}</a:t>
            </a:r>
            <a:endParaRPr i="1"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i="1" lang="sv-SE"/>
              <a:t>This group of items occurs in 0.02% baskets</a:t>
            </a:r>
            <a:endParaRPr i="1"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i="1" lang="sv-SE"/>
              <a:t>Buying 'ALL BRAN REGULAR 500G KEL' makes probability of buying 'AGURK STYKK' ~</a:t>
            </a:r>
            <a:r>
              <a:rPr b="1" i="1" lang="sv-SE"/>
              <a:t>3.9x higher : </a:t>
            </a:r>
            <a:r>
              <a:rPr i="1" lang="sv-SE"/>
              <a:t>probability goes from 6.08% to 23.53%</a:t>
            </a:r>
            <a:endParaRPr i="1"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sv-SE"/>
              <a:t>...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sv-SE" u="sng">
                <a:solidFill>
                  <a:schemeClr val="hlink"/>
                </a:solidFill>
                <a:hlinkClick r:id="rId3"/>
              </a:rPr>
              <a:t>List of association rules with high lift and high confidence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202" name="Google Shape;20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399" y="3263825"/>
            <a:ext cx="7594199" cy="1285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 txBox="1"/>
          <p:nvPr>
            <p:ph type="title"/>
          </p:nvPr>
        </p:nvSpPr>
        <p:spPr>
          <a:xfrm>
            <a:off x="313200" y="168471"/>
            <a:ext cx="756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sv-SE"/>
              <a:t>Prototyping: performance</a:t>
            </a:r>
            <a:endParaRPr/>
          </a:p>
        </p:txBody>
      </p:sp>
      <p:sp>
        <p:nvSpPr>
          <p:cNvPr id="209" name="Google Shape;209;p40"/>
          <p:cNvSpPr txBox="1"/>
          <p:nvPr>
            <p:ph idx="1" type="body"/>
          </p:nvPr>
        </p:nvSpPr>
        <p:spPr>
          <a:xfrm>
            <a:off x="4112551" y="1120061"/>
            <a:ext cx="43737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14s to compute  1,000 groups from 175,183 transactions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16s to compute 10,000 groups from 175,183 transactions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41s to compute  100,000 groups from 175,183 transactions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b="1" lang="sv-SE"/>
              <a:t>1h 40m </a:t>
            </a:r>
            <a:r>
              <a:rPr lang="sv-SE"/>
              <a:t>to compute all groups from </a:t>
            </a:r>
            <a:r>
              <a:rPr b="1" lang="sv-SE"/>
              <a:t>3.5M</a:t>
            </a:r>
            <a:r>
              <a:rPr lang="sv-SE"/>
              <a:t> transactions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t/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Estimates show that it will fail with 100M+ baskets due to memory limits (even on large instances)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1"/>
          <p:cNvSpPr txBox="1"/>
          <p:nvPr>
            <p:ph type="title"/>
          </p:nvPr>
        </p:nvSpPr>
        <p:spPr>
          <a:xfrm>
            <a:off x="1332000" y="257946"/>
            <a:ext cx="648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sv-SE"/>
              <a:t>Introducing Apache Beam &amp; DataFlow</a:t>
            </a:r>
            <a:endParaRPr/>
          </a:p>
        </p:txBody>
      </p:sp>
      <p:pic>
        <p:nvPicPr>
          <p:cNvPr id="216" name="Google Shape;2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775" y="1250096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/>
          <p:nvPr>
            <p:ph type="title"/>
          </p:nvPr>
        </p:nvSpPr>
        <p:spPr>
          <a:xfrm>
            <a:off x="1332000" y="168471"/>
            <a:ext cx="648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sv-SE"/>
              <a:t>Apache Beam</a:t>
            </a:r>
            <a:r>
              <a:rPr lang="sv-SE"/>
              <a:t> explained</a:t>
            </a:r>
            <a:endParaRPr/>
          </a:p>
        </p:txBody>
      </p:sp>
      <p:pic>
        <p:nvPicPr>
          <p:cNvPr id="223" name="Google Shape;22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3971"/>
            <a:ext cx="8839200" cy="1891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3"/>
          <p:cNvSpPr txBox="1"/>
          <p:nvPr>
            <p:ph type="title"/>
          </p:nvPr>
        </p:nvSpPr>
        <p:spPr>
          <a:xfrm>
            <a:off x="1332000" y="168471"/>
            <a:ext cx="648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sv-SE"/>
              <a:t>Apache Beam code example</a:t>
            </a:r>
            <a:endParaRPr/>
          </a:p>
        </p:txBody>
      </p:sp>
      <p:pic>
        <p:nvPicPr>
          <p:cNvPr id="230" name="Google Shape;23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950" y="1193721"/>
            <a:ext cx="8324096" cy="3820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4"/>
          <p:cNvSpPr txBox="1"/>
          <p:nvPr>
            <p:ph type="title"/>
          </p:nvPr>
        </p:nvSpPr>
        <p:spPr>
          <a:xfrm>
            <a:off x="1332000" y="168471"/>
            <a:ext cx="648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sv-SE"/>
              <a:t>DataFlow approach</a:t>
            </a:r>
            <a:endParaRPr/>
          </a:p>
        </p:txBody>
      </p:sp>
      <p:pic>
        <p:nvPicPr>
          <p:cNvPr id="237" name="Google Shape;23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250" y="1407100"/>
            <a:ext cx="7962725" cy="28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>
            <p:ph type="title"/>
          </p:nvPr>
        </p:nvSpPr>
        <p:spPr>
          <a:xfrm>
            <a:off x="1332000" y="168471"/>
            <a:ext cx="648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sv-SE"/>
              <a:t>DataFlow invocation example</a:t>
            </a:r>
            <a:endParaRPr/>
          </a:p>
        </p:txBody>
      </p:sp>
      <p:pic>
        <p:nvPicPr>
          <p:cNvPr id="244" name="Google Shape;24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775" y="1126646"/>
            <a:ext cx="5466438" cy="3820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6"/>
          <p:cNvSpPr txBox="1"/>
          <p:nvPr>
            <p:ph type="title"/>
          </p:nvPr>
        </p:nvSpPr>
        <p:spPr>
          <a:xfrm>
            <a:off x="313200" y="168471"/>
            <a:ext cx="756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sv-SE"/>
              <a:t>Big Data apriori implementation</a:t>
            </a:r>
            <a:endParaRPr/>
          </a:p>
        </p:txBody>
      </p:sp>
      <p:sp>
        <p:nvSpPr>
          <p:cNvPr id="251" name="Google Shape;251;p46"/>
          <p:cNvSpPr txBox="1"/>
          <p:nvPr>
            <p:ph idx="1" type="body"/>
          </p:nvPr>
        </p:nvSpPr>
        <p:spPr>
          <a:xfrm>
            <a:off x="3966750" y="1209800"/>
            <a:ext cx="46878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b="1" lang="sv-SE"/>
              <a:t>Hand-crafted</a:t>
            </a:r>
            <a:r>
              <a:rPr lang="sv-SE"/>
              <a:t> Apache Beam Apriori implementation has been developed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Initial recreation uses 1M records (170k+ baskets) to evaluate and compare algorithm with original apriori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Final pipeline launched against entire dataset (3.5M transactions)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Big Query has been successfully integrated as a data sink (</a:t>
            </a:r>
            <a:r>
              <a:rPr lang="sv-SE" u="sng">
                <a:solidFill>
                  <a:schemeClr val="hlink"/>
                </a:solidFill>
                <a:hlinkClick r:id="rId3"/>
              </a:rPr>
              <a:t>example of query</a:t>
            </a:r>
            <a:r>
              <a:rPr lang="sv-SE"/>
              <a:t> for accessing the pipeline results)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7"/>
          <p:cNvSpPr txBox="1"/>
          <p:nvPr>
            <p:ph type="title"/>
          </p:nvPr>
        </p:nvSpPr>
        <p:spPr>
          <a:xfrm>
            <a:off x="313200" y="168471"/>
            <a:ext cx="756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sv-SE"/>
              <a:t>Big Data: performance </a:t>
            </a:r>
            <a:endParaRPr/>
          </a:p>
        </p:txBody>
      </p:sp>
      <p:sp>
        <p:nvSpPr>
          <p:cNvPr id="258" name="Google Shape;258;p47"/>
          <p:cNvSpPr txBox="1"/>
          <p:nvPr>
            <p:ph idx="1" type="body"/>
          </p:nvPr>
        </p:nvSpPr>
        <p:spPr>
          <a:xfrm>
            <a:off x="4273200" y="1209812"/>
            <a:ext cx="36000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Comparison with original apriori has been executed on 100K and 1M records using </a:t>
            </a:r>
            <a:r>
              <a:rPr i="1" lang="sv-SE"/>
              <a:t>DirectRunner</a:t>
            </a:r>
            <a:r>
              <a:rPr lang="sv-SE"/>
              <a:t> i.e. running on the working PC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Performance of Apache Beam apriori </a:t>
            </a:r>
            <a:r>
              <a:rPr b="1" lang="sv-SE"/>
              <a:t>is ~20x slower.</a:t>
            </a:r>
            <a:endParaRPr b="1"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Running Apache Beam apriori on GCP DataFlow against the entire dataset with 6 workers took </a:t>
            </a:r>
            <a:r>
              <a:rPr b="1" lang="sv-SE"/>
              <a:t>21h. 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/>
          <p:cNvSpPr txBox="1"/>
          <p:nvPr>
            <p:ph type="title"/>
          </p:nvPr>
        </p:nvSpPr>
        <p:spPr>
          <a:xfrm>
            <a:off x="313200" y="168471"/>
            <a:ext cx="7560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sv-SE"/>
              <a:t>Conclusions</a:t>
            </a:r>
            <a:endParaRPr/>
          </a:p>
        </p:txBody>
      </p:sp>
      <p:sp>
        <p:nvSpPr>
          <p:cNvPr id="265" name="Google Shape;265;p48"/>
          <p:cNvSpPr txBox="1"/>
          <p:nvPr>
            <p:ph idx="1" type="body"/>
          </p:nvPr>
        </p:nvSpPr>
        <p:spPr>
          <a:xfrm>
            <a:off x="4085925" y="1209800"/>
            <a:ext cx="46245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For current or slightly larger amount of data it worth using </a:t>
            </a:r>
            <a:r>
              <a:rPr b="1" lang="sv-SE"/>
              <a:t>original python library apriori</a:t>
            </a:r>
            <a:r>
              <a:rPr lang="sv-SE"/>
              <a:t> algorithm. In case of amount of data would scale more than </a:t>
            </a:r>
            <a:r>
              <a:rPr b="1" lang="sv-SE"/>
              <a:t>20 times </a:t>
            </a:r>
            <a:r>
              <a:rPr lang="sv-SE"/>
              <a:t>it may require running Apache Beam apriori implementation 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⬥"/>
            </a:pPr>
            <a:r>
              <a:rPr lang="sv-SE"/>
              <a:t>Original apriori algorithm allows to compute “</a:t>
            </a:r>
            <a:r>
              <a:rPr b="1" lang="sv-SE"/>
              <a:t>group to group”</a:t>
            </a:r>
            <a:r>
              <a:rPr lang="sv-SE"/>
              <a:t> influence compared to Apache Beam apriori implementation which is developed to compute only “</a:t>
            </a:r>
            <a:r>
              <a:rPr b="1" lang="sv-SE"/>
              <a:t>group to 1 item” </a:t>
            </a:r>
            <a:r>
              <a:rPr lang="sv-SE"/>
              <a:t>influence.</a:t>
            </a:r>
            <a:endParaRPr/>
          </a:p>
          <a:p>
            <a:pPr indent="0" lvl="0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xtendaRetail">
  <a:themeElements>
    <a:clrScheme name="Egen 8">
      <a:dk1>
        <a:srgbClr val="3C3364"/>
      </a:dk1>
      <a:lt1>
        <a:srgbClr val="FFFFFF"/>
      </a:lt1>
      <a:dk2>
        <a:srgbClr val="3C3364"/>
      </a:dk2>
      <a:lt2>
        <a:srgbClr val="FEFFFE"/>
      </a:lt2>
      <a:accent1>
        <a:srgbClr val="9964E3"/>
      </a:accent1>
      <a:accent2>
        <a:srgbClr val="1DDBDB"/>
      </a:accent2>
      <a:accent3>
        <a:srgbClr val="990F99"/>
      </a:accent3>
      <a:accent4>
        <a:srgbClr val="2C61CC"/>
      </a:accent4>
      <a:accent5>
        <a:srgbClr val="FF4CD2"/>
      </a:accent5>
      <a:accent6>
        <a:srgbClr val="6B3C99"/>
      </a:accent6>
      <a:hlink>
        <a:srgbClr val="FF4CD2"/>
      </a:hlink>
      <a:folHlink>
        <a:srgbClr val="FF4C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